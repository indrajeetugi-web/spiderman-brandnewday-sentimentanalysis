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Mentions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Sheet1!$A$2:$A$8</c:f>
              <c:strCache>
                <c:ptCount val="7"/>
                <c:pt idx="0">
                  <c:v>Mar</c:v>
                </c:pt>
                <c:pt idx="1">
                  <c:v>Apr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</c:v>
                </c:pt>
                <c:pt idx="1">
                  <c:v>106</c:v>
                </c:pt>
                <c:pt idx="2">
                  <c:v>80</c:v>
                </c:pt>
                <c:pt idx="3">
                  <c:v>322</c:v>
                </c:pt>
                <c:pt idx="4">
                  <c:v>245</c:v>
                </c:pt>
                <c:pt idx="5">
                  <c:v>119</c:v>
                </c:pt>
                <c:pt idx="6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 Mentions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Sheet1!$A$2:$A$8</c:f>
              <c:strCache>
                <c:ptCount val="7"/>
                <c:pt idx="0">
                  <c:v>Mar</c:v>
                </c:pt>
                <c:pt idx="1">
                  <c:v>Apr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</c:v>
                </c:pt>
                <c:pt idx="1">
                  <c:v>31</c:v>
                </c:pt>
                <c:pt idx="2">
                  <c:v>39</c:v>
                </c:pt>
                <c:pt idx="3">
                  <c:v>178</c:v>
                </c:pt>
                <c:pt idx="4">
                  <c:v>117</c:v>
                </c:pt>
                <c:pt idx="5">
                  <c:v>64</c:v>
                </c:pt>
                <c:pt idx="6">
                  <c:v>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Liberation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0F172A"/>
              </a:solidFill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Sheet1!$A$2:$A$7</c:f>
              <c:strCache>
                <c:ptCount val="6"/>
                <c:pt idx="0">
                  <c:v>Plot &amp; Pacing</c:v>
                </c:pt>
                <c:pt idx="1">
                  <c:v>Soundtrack &amp; Audio</c:v>
                </c:pt>
                <c:pt idx="2">
                  <c:v>Suit &amp; Practical</c:v>
                </c:pt>
                <c:pt idx="3">
                  <c:v>CGI &amp; VFX</c:v>
                </c:pt>
                <c:pt idx="4">
                  <c:v>Ticket Prices</c:v>
                </c:pt>
                <c:pt idx="5">
                  <c:v>Tom Holland Acting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115</c:v>
                </c:pt>
                <c:pt idx="2">
                  <c:v>147</c:v>
                </c:pt>
                <c:pt idx="3">
                  <c:v>95</c:v>
                </c:pt>
                <c:pt idx="4">
                  <c:v>145</c:v>
                </c:pt>
                <c:pt idx="5">
                  <c:v>327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Sheet1!$A$2:$A$7</c:f>
              <c:strCache>
                <c:ptCount val="6"/>
                <c:pt idx="0">
                  <c:v>Plot &amp; Pacing</c:v>
                </c:pt>
                <c:pt idx="1">
                  <c:v>Soundtrack &amp; Audio</c:v>
                </c:pt>
                <c:pt idx="2">
                  <c:v>Suit &amp; Practical</c:v>
                </c:pt>
                <c:pt idx="3">
                  <c:v>CGI &amp; VFX</c:v>
                </c:pt>
                <c:pt idx="4">
                  <c:v>Ticket Prices</c:v>
                </c:pt>
                <c:pt idx="5">
                  <c:v>Tom Holland Acting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42</c:v>
                </c:pt>
                <c:pt idx="2">
                  <c:v>0</c:v>
                </c:pt>
                <c:pt idx="3">
                  <c:v>154</c:v>
                </c:pt>
                <c:pt idx="4">
                  <c:v>173</c:v>
                </c:pt>
                <c:pt idx="5">
                  <c:v>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Liberation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0F172A"/>
              </a:solidFill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Posts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Sheet1!$A$2:$A$4</c:f>
              <c:strCache>
                <c:ptCount val="3"/>
                <c:pt idx="0">
                  <c:v>Reddit (36.53%)</c:v>
                </c:pt>
                <c:pt idx="1">
                  <c:v>X / Twitter (31.80%)</c:v>
                </c:pt>
                <c:pt idx="2">
                  <c:v>YouTube (31.67%)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271</c:v>
                </c:pt>
                <c:pt idx="1">
                  <c:v>312</c:v>
                </c:pt>
                <c:pt idx="2">
                  <c:v>426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 Posts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Sheet1!$A$2:$A$4</c:f>
              <c:strCache>
                <c:ptCount val="3"/>
                <c:pt idx="0">
                  <c:v>Reddit (36.53%)</c:v>
                </c:pt>
                <c:pt idx="1">
                  <c:v>X / Twitter (31.80%)</c:v>
                </c:pt>
                <c:pt idx="2">
                  <c:v>YouTube (31.67%)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276</c:v>
                </c:pt>
                <c:pt idx="1">
                  <c:v>165</c:v>
                </c:pt>
                <c:pt idx="2">
                  <c:v>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Liberation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0F172A"/>
              </a:solidFill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4" name="Rounded Rectangle 3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87171"/>
                </a:solidFill>
                <a:latin typeface="Liberation Sans"/>
              </a:rPr>
              <a:t>SOCIAL MEDIA SENTIMENT &amp; BRAND STRATEGY</a:t>
            </a:r>
          </a:p>
          <a:p>
            <a:pPr>
              <a:spcAft>
                <a:spcPts val="1600"/>
              </a:spcAft>
            </a:pPr>
            <a:r>
              <a:rPr sz="4400" b="1">
                <a:solidFill>
                  <a:srgbClr val="F8FAFC"/>
                </a:solidFill>
                <a:latin typeface="Noto Sans Display"/>
              </a:rPr>
              <a:t>Spider-Man: Brand New Day Sentiment Tracker</a:t>
            </a:r>
          </a:p>
          <a:p>
            <a:r>
              <a:rPr sz="2000">
                <a:solidFill>
                  <a:srgbClr val="CBD5E1"/>
                </a:solidFill>
                <a:latin typeface="Liberation Sans"/>
              </a:rPr>
              <a:t>Power BI sentiment tracking, topic analysis, and actionable marketing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Liberation Sans"/>
              </a:rPr>
              <a:t>Slide 1  |  Power BI Social Media Analytics Project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1. PROBLEM STATEMENT &amp; EXECUTIVE KPIS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67.27% Positive Reception Across 1,500 Posts &amp; 151K Likes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43426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Project Objective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Mandate: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Track social sentiment for Brand New Day.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Visual Goal: </a:t>
            </a:r>
            <a:r>
              <a:rPr sz="1500">
                <a:solidFill>
                  <a:srgbClr val="475569"/>
                </a:solidFill>
                <a:latin typeface="Liberation Sans"/>
              </a:rPr>
              <a:t>Monitor positive and negative shifts in Power BI.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Brand Focus: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Deliver data-backed marketing strategies.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43426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Dataset Scale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Post Volume: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1,500 posts generating 1,722 aspect tags.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Engagement: </a:t>
            </a:r>
            <a:r>
              <a:rPr sz="1500">
                <a:solidFill>
                  <a:srgbClr val="475569"/>
                </a:solidFill>
                <a:latin typeface="Liberation Sans"/>
              </a:rPr>
              <a:t>151.4K likes tracked across three platforms.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Timeline: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Five release phases from March to October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43426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Headline Metrics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Positivity: </a:t>
            </a:r>
            <a:r>
              <a:rPr sz="1500">
                <a:solidFill>
                  <a:srgbClr val="475569"/>
                </a:solidFill>
                <a:latin typeface="Liberation Sans"/>
              </a:rPr>
              <a:t>67.27% positive vs. 32.67% negative share.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Net Score: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+34.60 Net Sentiment Score overall.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Top Driver: </a:t>
            </a:r>
            <a:r>
              <a:rPr sz="1500">
                <a:solidFill>
                  <a:srgbClr val="475569"/>
                </a:solidFill>
                <a:latin typeface="Liberation Sans"/>
              </a:rPr>
              <a:t>Tom Holland's acting drove 327 positive tags.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2  |  Source: Spider-Man: Brand New Day Sentiment Tracker Dataset (2026)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2. POWER BI WORKFLOW &amp; DATA ARCHITECTURE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Structured CSV Datasets Power Relational BI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1. Data Import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Platforms: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Covered Reddit (36.5%), X (31.8%), YouTube (31.7%).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Clean Schema: </a:t>
            </a:r>
            <a:r>
              <a:rPr sz="1500">
                <a:solidFill>
                  <a:srgbClr val="475569"/>
                </a:solidFill>
                <a:latin typeface="Liberation Sans"/>
              </a:rPr>
              <a:t>Imported main comments and topic bridge CSVs.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Milestones: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Grouped dates into five campaign windows.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2. Sentiment &amp; Topics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Score Scale: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Sentiment scores range from -1.0 to +1.0.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Categories: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Classified into Positive, Negative, and Neutral.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Topic Tags: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Mapped 1,722 mentions across nine film aspects.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3. BI Data Model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Fact Table: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1,500 rows with post dates, likes, and scores.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Bridge Link: </a:t>
            </a:r>
            <a:r>
              <a:rPr sz="1500">
                <a:solidFill>
                  <a:srgbClr val="475569"/>
                </a:solidFill>
                <a:latin typeface="Liberation Sans"/>
              </a:rPr>
              <a:t>1,722 rows linking Post_ID to film topics.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DAX Measures: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Built KPI formulas for % splits and Net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3  |  Source: Power BI Desktop Data Import &amp; Modeling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3. CAMPAIGN LIFECYCLE DESIGN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Five Release Milestones Structure Time-Series Tracking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1005840"/>
                <a:gridCol w="5212080"/>
              </a:tblGrid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Noto Sans Display"/>
                        </a:rPr>
                        <a:t>Campaign Phase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Noto Sans Display"/>
                        </a:rPr>
                        <a:t>Date Window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Noto Sans Display"/>
                        </a:rPr>
                        <a:t>Posts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Noto Sans Display"/>
                        </a:rPr>
                        <a:t>Dominant Fan Discussion &amp; Sentiment Driver</a:t>
                      </a:r>
                    </a:p>
                  </a:txBody>
                  <a:tcPr anchor="ctr">
                    <a:solidFill>
                      <a:srgbClr val="DC2626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Liberation Sans"/>
                        </a:rPr>
                        <a:t>1. Teaser Drop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Mar 18 – Apr 15,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Street-level Peter Parker tone &amp; classic fabric suit praise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Liberation Sans"/>
                        </a:rPr>
                        <a:t>2. Official Trailer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Jun 18 – Jul 25, 2026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350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Action choreography excitement vs. $25+ ticket pre-sale backlash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Liberation Sans"/>
                        </a:rPr>
                        <a:t>3. Opening Weekend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Jul 27 – Aug 03,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Peak volume (500 July posts); Tom Holland praised, Act 1 pacing debated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Liberation Sans"/>
                        </a:rPr>
                        <a:t>4. Theatrical Run &amp; WOM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Aug 04 – Sep 15, 2026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300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Repeat viewings, soundtrack appreciation, and $1B+ box office buzz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Liberation Sans"/>
                        </a:rPr>
                        <a:t>5. Digital / Home Release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Sep 16 – Oct 23,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Liberation Sans"/>
                        </a:rPr>
                        <a:t>4K HDR easter egg breakdowns vs. $19.99 home rental pricing complaints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4  |  Source: spiderman_bnd_sentiment_main.csv (1,500 total posts across 5 milestones)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bg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4. POWER BI MODEL &amp; UI THEME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Bridge Schema Powers Aspect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One-to-Many Link: </a:t>
            </a:r>
            <a:r>
              <a:rPr sz="1500">
                <a:solidFill>
                  <a:srgbClr val="475569"/>
                </a:solidFill>
                <a:latin typeface="Liberation Sans"/>
              </a:rPr>
              <a:t>Main table (1,500 posts) connects to Bridge table (1,722 tags) via Post_ID.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Cross-Filter Direction: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Both-direction filtering syncs topic bars with time-series trends.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Net Sentiment DAX: </a:t>
            </a:r>
            <a:r>
              <a:rPr sz="1500">
                <a:solidFill>
                  <a:srgbClr val="475569"/>
                </a:solidFill>
                <a:latin typeface="Liberation Sans"/>
              </a:rPr>
              <a:t>[% Positive] (67.27%) minus [% Negative] (32.67%) yields +34.60 NSS.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Custom UI Canvas: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Electric blue hero container paired with crimson red glassmorphism frames.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5  |  Right: Custom Spider-Man Widescreen UI Canvas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pr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5. DASHBOARD EVOLUTION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Prototype Revealed Key Visual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3D Character Breakout: </a:t>
            </a:r>
            <a:r>
              <a:rPr sz="1500">
                <a:solidFill>
                  <a:srgbClr val="475569"/>
                </a:solidFill>
                <a:latin typeface="Liberation Sans"/>
              </a:rPr>
              <a:t>Layered Spider-Man render over the top-left electric blue frame.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Slicer &amp; KPI Foundation: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Established 5 Campaign Phase buttons, 2K mentions, and 151K engagement.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Prototype Limitation: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Counted total topic volume without showing positive vs. negative splits.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Missing Time-Series: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Right canvas lacked monthly trend tracking and platform sentiment stacks.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6  |  Right: Stage 1 Dashboard Prototype (Oct 24, 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final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6. COMPLETED POWER BI INTERFACE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Final UI Unifies Six Analytics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Sentiment Breakdown: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Stacked bars compare positive (red) vs. negative (blue) counts per topic.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Trends Over Time: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Monthly columns &amp; NSS line capture the July release spike (322 Pos / 178 Neg).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Voice-of-Fan Table: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Interactive drill-through table surfaces raw comments and sentiment labels.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Platform Split &amp; KPIs: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100% stacked platform chart paired with 67.27% Positive and 34.60 NSS cards.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7  |  Right: Final Power BI Dashboard Interface (Oct 26,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7. TEMPORAL SENTIMENT ANALYSIS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Premiere Window Drove Peak Buzz of 500 Posts in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9319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Teaser Momentum: </a:t>
            </a:r>
            <a:r>
              <a:rPr sz="1500">
                <a:solidFill>
                  <a:srgbClr val="475569"/>
                </a:solidFill>
                <a:latin typeface="Liberation Sans"/>
              </a:rPr>
              <a:t>March–April generated 196 positive vs. 53 negative mentions.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July Premiere Spike: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Volume surged to 322 positive and 178 negative posts during launch.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August Sustain: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Word-of-mouth held 245 positive vs. 117 negative posts in August.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Home Release Dip: </a:t>
            </a:r>
            <a:r>
              <a:rPr sz="1500">
                <a:solidFill>
                  <a:srgbClr val="475569"/>
                </a:solidFill>
                <a:latin typeface="Liberation Sans"/>
              </a:rPr>
              <a:t>October narrowed to 47 positive vs. 39 negative over $19.99 rental fees.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937760" y="2011680"/>
          <a:ext cx="64922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8  |  Source: Dashboard 'Sentiment Trends Over Time' Visual (March–October 2026)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8. INFLUENTIAL TOPIC BREAKDOWN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Acting &amp; Suit Design Led Praise While Pricing Drove Backlash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9319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#1 Praise Driver: </a:t>
            </a:r>
            <a:r>
              <a:rPr sz="1500">
                <a:solidFill>
                  <a:srgbClr val="475569"/>
                </a:solidFill>
                <a:latin typeface="Liberation Sans"/>
              </a:rPr>
              <a:t>Tom Holland &amp; Acting achieved 327 positive vs. only 26 negative tags.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Unanimous Wins: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Practical Suit (147 Pos, 0 Neg) and Soundtrack (115 Pos, 42 Neg) excelled.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Pricing Friction: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Ticket Prices generated 173 negative vs. 145 positive mentions.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Technical Critique: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CGI &amp; VFX (154 Neg) and Plot &amp; Pacing (110 Neg) drew scrutiny.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937760" y="2011680"/>
          <a:ext cx="64922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9  |  Source: Dashboard 'Sentiment Breakdown' Visual (spiderman_bnd_topics_bridge.csv)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9. CROSS-PLATFORM SENTIMENT SPLIT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YouTube Skews 89.7% Positive While Reddit Debates Pacing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11680"/>
          <a:ext cx="62179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2011680"/>
            <a:ext cx="4114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YouTube Enthusiasm: </a:t>
            </a:r>
            <a:r>
              <a:rPr sz="1500">
                <a:solidFill>
                  <a:srgbClr val="475569"/>
                </a:solidFill>
                <a:latin typeface="Liberation Sans"/>
              </a:rPr>
              <a:t>426 positive vs. 49 negative posts (89.7% positive) from trailer and score fans.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X Real-Time Buzz: </a:t>
            </a:r>
            <a:r>
              <a:rPr sz="1500">
                <a:solidFill>
                  <a:srgbClr val="475569"/>
                </a:solidFill>
                <a:latin typeface="Liberation Sans"/>
              </a:rPr>
              <a:t>312 positive vs. 165 negative posts (65.4% positive) across opening week.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Reddit Critical Lens: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271 positive vs. 276 negative posts (49.5% positive) on pacing and VFX.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10  |  Source: Dashboard 'Platform Sentiment split' &amp; 'Total Mentions by Platform' Visuals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Liberation Sans"/>
              </a:rPr>
              <a:t>10. ACTIONABLE BRAND &amp; MARKETING STRATEGY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Noto Sans Display"/>
              </a:rPr>
              <a:t>Three Targeted Marketing Pillars Convert Insights Into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43426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1. Creative Ad Pivot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Data Trigger: </a:t>
            </a:r>
            <a:r>
              <a:rPr sz="1500">
                <a:solidFill>
                  <a:srgbClr val="475569"/>
                </a:solidFill>
                <a:latin typeface="Liberation Sans"/>
              </a:rPr>
              <a:t>Tom Holland (327 Pos) &amp; Suit (147 Pos) lead praise.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Ad Shift: </a:t>
            </a:r>
            <a:r>
              <a:rPr sz="1500">
                <a:solidFill>
                  <a:srgbClr val="475569"/>
                </a:solidFill>
                <a:latin typeface="Liberation Sans"/>
              </a:rPr>
              <a:t>Focus TV/Reels spend on emotional character drama.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VFX Reels: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Share practical stunt clips to counter CGI critiques.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43426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2. Exhibitor Pricing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Data Trigger: </a:t>
            </a:r>
            <a:r>
              <a:rPr sz="1500">
                <a:solidFill>
                  <a:srgbClr val="475569"/>
                </a:solidFill>
                <a:latin typeface="Liberation Sans"/>
              </a:rPr>
              <a:t>Ticket Prices caused 173 negative mentions.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Discounts: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Launch 'Brand New Tuesday' deals with theater chains.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Home Bonus: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Include deleted scenes to justify $19.99 digital price.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43426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DC2626"/>
                </a:solidFill>
                <a:latin typeface="Noto Sans Display"/>
              </a:rPr>
              <a:t>3. Platform Strategy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Data Trigger: </a:t>
            </a:r>
            <a:r>
              <a:rPr sz="1500">
                <a:solidFill>
                  <a:srgbClr val="475569"/>
                </a:solidFill>
                <a:latin typeface="Liberation Sans"/>
              </a:rPr>
              <a:t>Reddit is 50.5% negative; YouTube is 89.7% positive.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Reddit AMA: </a:t>
            </a:r>
            <a:r>
              <a:rPr sz="1500">
                <a:solidFill>
                  <a:srgbClr val="475569"/>
                </a:solidFill>
                <a:latin typeface="Liberation Sans"/>
              </a:rPr>
              <a:t>Host director AMA on r/marvelstudios on Act 1 pacing.</a:t>
            </a:r>
          </a:p>
          <a:p>
            <a:pPr algn="l" marL="237744" indent="-237744">
              <a:spcAft>
                <a:spcPts val="1200"/>
              </a:spcAft>
              <a:buFont typeface="Liberation Sans"/>
              <a:buChar char="•"/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Audio Push: </a:t>
            </a:r>
            <a:r>
              <a:rPr sz="1500">
                <a:solidFill>
                  <a:srgbClr val="475569"/>
                </a:solidFill>
                <a:latin typeface="Liberation Sans"/>
              </a:rPr>
              <a:t>Promote official soundtrack across YouTube &amp; Spotify.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Slide 11  |  Source: Strategic Synthesis of Power BI Sentiment &amp; Aspect Findings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87171"/>
                </a:solidFill>
                <a:latin typeface="Liberation Sans"/>
              </a:rPr>
              <a:t>SPIDER-MAN: BRAND NEW DAY — POWER BI ANALYTICS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8FAFC"/>
                </a:solidFill>
                <a:latin typeface="Noto Sans Display"/>
              </a:rPr>
              <a:t>Grounded Storytelling Drives Lasting Brand Equity.</a:t>
            </a:r>
          </a:p>
          <a:p>
            <a:pPr algn="ctr"/>
            <a:r>
              <a:rPr sz="2000">
                <a:solidFill>
                  <a:srgbClr val="CBD5E1"/>
                </a:solidFill>
                <a:latin typeface="Liberation Sans"/>
              </a:rPr>
              <a:t>Thank You  |  Questions &amp; Interactive Power BI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